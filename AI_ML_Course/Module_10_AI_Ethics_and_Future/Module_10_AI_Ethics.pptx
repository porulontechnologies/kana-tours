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54864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6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Ethics &amp; The Future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AI Responsibly — What Comes Next?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0" y="4206240"/>
            <a:ext cx="2743200" cy="36576"/>
          </a:xfrm>
          <a:prstGeom prst="rect">
            <a:avLst/>
          </a:prstGeom>
          <a:solidFill>
            <a:srgbClr val="00D4A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Are AI Ethics?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64008" cy="100584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344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and principles for using AI responsibly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AI is fair, transparent, safe, and beneficial for everyone.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60604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3383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should treat all people equally and without discrimination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46120" y="246888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260604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2900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429000" y="3383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should understand how and why AI makes decisions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35040" y="246888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60604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217920" y="3383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must be reliable, secure, and not cause harm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21" name="Text 16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AI makes decisions that affect real people's lives every day.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Can AI Be Biased?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2651760" cy="54864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6" name="Shape 4"/>
          <p:cNvSpPr/>
          <p:nvPr/>
        </p:nvSpPr>
        <p:spPr>
          <a:xfrm>
            <a:off x="1417320" y="1508760"/>
            <a:ext cx="640080" cy="640080"/>
          </a:xfrm>
          <a:prstGeom prst="ellipse">
            <a:avLst/>
          </a:prstGeom>
          <a:solidFill>
            <a:srgbClr val="4A6CF7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BIAS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discrimination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baked into the data AI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680" y="1965960"/>
            <a:ext cx="274320" cy="2743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337560" y="128016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37560" y="1280160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Shape 10"/>
          <p:cNvSpPr/>
          <p:nvPr/>
        </p:nvSpPr>
        <p:spPr>
          <a:xfrm>
            <a:off x="4297680" y="150876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429768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520440" y="2240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BIAS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520440" y="2560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amplifies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patterns and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them worse</a:t>
            </a:r>
            <a:endParaRPr lang="en-US" sz="10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965960"/>
            <a:ext cx="274320" cy="27432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217920" y="128016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1280160"/>
            <a:ext cx="26517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Shape 16"/>
          <p:cNvSpPr/>
          <p:nvPr/>
        </p:nvSpPr>
        <p:spPr>
          <a:xfrm>
            <a:off x="7178040" y="150876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1" name="Text 17"/>
          <p:cNvSpPr/>
          <p:nvPr/>
        </p:nvSpPr>
        <p:spPr>
          <a:xfrm>
            <a:off x="717804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18"/>
          <p:cNvSpPr/>
          <p:nvPr/>
        </p:nvSpPr>
        <p:spPr>
          <a:xfrm>
            <a:off x="6400800" y="2240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BIAS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400800" y="2560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isn't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enough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everyone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57200" y="3337560"/>
            <a:ext cx="82296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57200" y="3337560"/>
            <a:ext cx="64008" cy="141732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474720"/>
            <a:ext cx="411480" cy="4114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325880" y="34290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 of AI Bias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1325880" y="384048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AI: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Amazon's AI recruiting tool penalized resumes that included the word "women's"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Recognition: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showed much higher error rates for darker-skinned faces vs lighter-skinned faces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AI: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algorithm used to predict health needs was biased against Black patients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Ethical Concerns in AI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047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371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80160" y="16916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data collection &amp; surveillance of personal information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6120" y="123444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29000" y="1417320"/>
            <a:ext cx="502920" cy="50292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152" y="149047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69080" y="1371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Displacement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069080" y="16916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automating tasks that humans currently do for a living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35040" y="123444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417320"/>
            <a:ext cx="502920" cy="50292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49047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58000" y="1371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858000" y="16916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fake videos, images, and misinformation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278892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" y="2971800"/>
            <a:ext cx="502920" cy="50292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3044952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280160" y="32461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recognition &amp; tracking used without consent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46120" y="278892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29000" y="2971800"/>
            <a:ext cx="502920" cy="50292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2152" y="3044952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6908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Box AI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069080" y="32461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makes decisions but can't explain why or how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035040" y="278892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17920" y="2971800"/>
            <a:ext cx="502920" cy="50292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3044952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5800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Weapons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858000" y="32461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weapons that select targets without human control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5" name="Text 27"/>
          <p:cNvSpPr/>
          <p:nvPr/>
        </p:nvSpPr>
        <p:spPr>
          <a:xfrm>
            <a:off x="640080" y="4343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not hypothetical — they are real challenges we face TODAY.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Does AI Need Human Oversight?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64008" cy="59436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344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AI decisions are equal. Some require a human in the loop.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011680"/>
            <a:ext cx="64008" cy="566928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0312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2029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High-Stakes Decisions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34440" y="230428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diagnoses, legal sentencing, loan approvals — where mistakes ruin lives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2670048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2670048"/>
            <a:ext cx="64008" cy="566928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61488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34440" y="2688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Fairness Is Critical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234440" y="296265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Hiring, college admissions, insurance — must be free from discrimination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57200" y="3328416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7200" y="3328416"/>
            <a:ext cx="64008" cy="566928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419856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34440" y="33467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Lacks Context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234440" y="362102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can't understand cultural nuance, sarcasm, or complex human situations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57200" y="3986784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57200" y="3986784"/>
            <a:ext cx="64008" cy="566928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78224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34440" y="4005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Accountability Matters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1234440" y="427939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must be responsible when things go wrong — AI can't be held liable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8" name="Text 22"/>
          <p:cNvSpPr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The higher the stakes, the more human oversight is needed.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Are AI Regulations Happening?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2651760" cy="54864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1965960"/>
            <a:ext cx="2103120" cy="3200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65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COMPREHENSIVE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World's first comprehensive AI law.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AI systems by risk level.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Bans certain AI practices outright.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23444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234440"/>
            <a:ext cx="26517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463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AI Initiatives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11880" y="1965960"/>
            <a:ext cx="210312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3611880" y="1965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REGULATION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20440" y="2468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orders on AI safety.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Risk Framework.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State-level AI legislation emerging.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23444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234440"/>
            <a:ext cx="2651760" cy="54864"/>
          </a:xfrm>
          <a:prstGeom prst="rect">
            <a:avLst/>
          </a:prstGeom>
          <a:solidFill>
            <a:srgbClr val="E85D7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463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Self-Regulation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92240" y="1965960"/>
            <a:ext cx="2103120" cy="320040"/>
          </a:xfrm>
          <a:prstGeom prst="rect">
            <a:avLst/>
          </a:prstGeom>
          <a:solidFill>
            <a:srgbClr val="8892B0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1965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VOLUNTARY STANDARDS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0" y="2468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Microsoft, OpenAI publish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principles. Responsible 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&amp; safety testing.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069080"/>
            <a:ext cx="8229600" cy="73152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0690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regulation is evolving fast — the goal is to encourage innovation while protecting people.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Principles Guide Ethical AI?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8862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64008" cy="8686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399032"/>
            <a:ext cx="502920" cy="50292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472184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25880" y="16733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discrimination — treat all groups equally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0" y="1234440"/>
            <a:ext cx="38862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1234440"/>
            <a:ext cx="64008" cy="8686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2" name="Shape 9"/>
          <p:cNvSpPr/>
          <p:nvPr/>
        </p:nvSpPr>
        <p:spPr>
          <a:xfrm>
            <a:off x="4800600" y="1399032"/>
            <a:ext cx="502920" cy="50292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472184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4068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440680" y="16733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should be explainable and understandable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2331720"/>
            <a:ext cx="38862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2331720"/>
            <a:ext cx="64008" cy="8686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8" name="Shape 14"/>
          <p:cNvSpPr/>
          <p:nvPr/>
        </p:nvSpPr>
        <p:spPr>
          <a:xfrm>
            <a:off x="685800" y="2496312"/>
            <a:ext cx="502920" cy="50292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569464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25880" y="2423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25880" y="27706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personal data and respect user consent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0" y="2331720"/>
            <a:ext cx="38862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572000" y="2331720"/>
            <a:ext cx="64008" cy="8686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4" name="Shape 19"/>
          <p:cNvSpPr/>
          <p:nvPr/>
        </p:nvSpPr>
        <p:spPr>
          <a:xfrm>
            <a:off x="4800600" y="2496312"/>
            <a:ext cx="502920" cy="50292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2569464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40680" y="2423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5440680" y="27706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must be reliable, secure, and do no harm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57200" y="3429000"/>
            <a:ext cx="38862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57200" y="3429000"/>
            <a:ext cx="64008" cy="8686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0" name="Shape 24"/>
          <p:cNvSpPr/>
          <p:nvPr/>
        </p:nvSpPr>
        <p:spPr>
          <a:xfrm>
            <a:off x="685800" y="3593592"/>
            <a:ext cx="502920" cy="50292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3666744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32588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1325880" y="38679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remain responsible for AI outcomes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4572000" y="3429000"/>
            <a:ext cx="38862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4572000" y="3429000"/>
            <a:ext cx="64008" cy="8686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6" name="Shape 29"/>
          <p:cNvSpPr/>
          <p:nvPr/>
        </p:nvSpPr>
        <p:spPr>
          <a:xfrm>
            <a:off x="4800600" y="3593592"/>
            <a:ext cx="502920" cy="50292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3666744"/>
            <a:ext cx="365760" cy="36576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44068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Beneficence</a:t>
            </a:r>
            <a:endParaRPr lang="en-US" sz="1500" dirty="0"/>
          </a:p>
        </p:txBody>
      </p:sp>
      <p:sp>
        <p:nvSpPr>
          <p:cNvPr id="39" name="Text 31"/>
          <p:cNvSpPr/>
          <p:nvPr/>
        </p:nvSpPr>
        <p:spPr>
          <a:xfrm>
            <a:off x="5440680" y="38679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should help humanity and improve lives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1" name="Text 33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6 principles form the foundation of responsible AI development worldwide.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Future of AI — What's Coming Next?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64008" cy="566928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216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Revolution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80160" y="149047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disease detection, personalized medicine, drug discovery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847088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847088"/>
            <a:ext cx="64008" cy="566928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3852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1874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Education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280160" y="214884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tutors that adapt to each student's learning style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505456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2505456"/>
            <a:ext cx="64008" cy="566928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596896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2532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Solutions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280160" y="2807208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energy, predicting weather patterns, reducing waste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3163824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57200" y="3163824"/>
            <a:ext cx="64008" cy="566928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255264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31912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AI Tools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280160" y="3465576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art, music, writing, and design assistants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3822192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" y="3822192"/>
            <a:ext cx="64008" cy="566928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913632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80160" y="38496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Human-AI Collaboration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280160" y="4123944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a partner that enhances human capabilities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30" name="Text 23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exciting opportunities AND serious challenges ahead — your generation shapes this future!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 Summary — Your AI &amp; ML Journey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1572768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34440"/>
            <a:ext cx="1572768" cy="4572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6" name="Shape 4"/>
          <p:cNvSpPr/>
          <p:nvPr/>
        </p:nvSpPr>
        <p:spPr>
          <a:xfrm>
            <a:off x="850392" y="1417320"/>
            <a:ext cx="502920" cy="502920"/>
          </a:xfrm>
          <a:prstGeom prst="ellipse">
            <a:avLst/>
          </a:prstGeom>
          <a:solidFill>
            <a:srgbClr val="4A6CF7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AI?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39112" y="1234440"/>
            <a:ext cx="1572768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39112" y="1234440"/>
            <a:ext cx="1572768" cy="4572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11" name="Shape 9"/>
          <p:cNvSpPr/>
          <p:nvPr/>
        </p:nvSpPr>
        <p:spPr>
          <a:xfrm>
            <a:off x="2569464" y="1417320"/>
            <a:ext cx="502920" cy="502920"/>
          </a:xfrm>
          <a:prstGeom prst="ellipse">
            <a:avLst/>
          </a:prstGeom>
          <a:solidFill>
            <a:srgbClr val="4A6CF7"/>
          </a:solidFill>
          <a:ln/>
        </p:spPr>
      </p:sp>
      <p:sp>
        <p:nvSpPr>
          <p:cNvPr id="12" name="Text 10"/>
          <p:cNvSpPr/>
          <p:nvPr/>
        </p:nvSpPr>
        <p:spPr>
          <a:xfrm>
            <a:off x="2569464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30552" y="201168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58184" y="1234440"/>
            <a:ext cx="1572768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58184" y="1234440"/>
            <a:ext cx="1572768" cy="4572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16" name="Shape 14"/>
          <p:cNvSpPr/>
          <p:nvPr/>
        </p:nvSpPr>
        <p:spPr>
          <a:xfrm>
            <a:off x="4288536" y="1417320"/>
            <a:ext cx="502920" cy="502920"/>
          </a:xfrm>
          <a:prstGeom prst="ellipse">
            <a:avLst/>
          </a:prstGeom>
          <a:solidFill>
            <a:srgbClr val="4A6CF7"/>
          </a:solidFill>
          <a:ln/>
        </p:spPr>
      </p:sp>
      <p:sp>
        <p:nvSpPr>
          <p:cNvPr id="17" name="Text 15"/>
          <p:cNvSpPr/>
          <p:nvPr/>
        </p:nvSpPr>
        <p:spPr>
          <a:xfrm>
            <a:off x="4288536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49624" y="201168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77256" y="1234440"/>
            <a:ext cx="1572768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77256" y="1234440"/>
            <a:ext cx="1572768" cy="4572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21" name="Shape 19"/>
          <p:cNvSpPr/>
          <p:nvPr/>
        </p:nvSpPr>
        <p:spPr>
          <a:xfrm>
            <a:off x="6007608" y="1417320"/>
            <a:ext cx="502920" cy="502920"/>
          </a:xfrm>
          <a:prstGeom prst="ellipse">
            <a:avLst/>
          </a:prstGeom>
          <a:solidFill>
            <a:srgbClr val="4A6CF7"/>
          </a:solidFill>
          <a:ln/>
        </p:spPr>
      </p:sp>
      <p:sp>
        <p:nvSpPr>
          <p:cNvPr id="22" name="Text 20"/>
          <p:cNvSpPr/>
          <p:nvPr/>
        </p:nvSpPr>
        <p:spPr>
          <a:xfrm>
            <a:off x="6007608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68696" y="201168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Fuel of AI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96328" y="1234440"/>
            <a:ext cx="1572768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96328" y="1234440"/>
            <a:ext cx="1572768" cy="4572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26" name="Shape 24"/>
          <p:cNvSpPr/>
          <p:nvPr/>
        </p:nvSpPr>
        <p:spPr>
          <a:xfrm>
            <a:off x="7726680" y="1417320"/>
            <a:ext cx="502920" cy="502920"/>
          </a:xfrm>
          <a:prstGeom prst="ellipse">
            <a:avLst/>
          </a:prstGeom>
          <a:solidFill>
            <a:srgbClr val="4A6CF7"/>
          </a:solidFill>
          <a:ln/>
        </p:spPr>
      </p:sp>
      <p:sp>
        <p:nvSpPr>
          <p:cNvPr id="27" name="Text 25"/>
          <p:cNvSpPr/>
          <p:nvPr/>
        </p:nvSpPr>
        <p:spPr>
          <a:xfrm>
            <a:off x="772668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287768" y="201168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2743200"/>
            <a:ext cx="1572768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2743200"/>
            <a:ext cx="1572768" cy="4572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31" name="Shape 29"/>
          <p:cNvSpPr/>
          <p:nvPr/>
        </p:nvSpPr>
        <p:spPr>
          <a:xfrm>
            <a:off x="850392" y="2926080"/>
            <a:ext cx="502920" cy="502920"/>
          </a:xfrm>
          <a:prstGeom prst="ellipse">
            <a:avLst/>
          </a:prstGeom>
          <a:solidFill>
            <a:srgbClr val="4A6CF7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11480" y="352044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039112" y="2743200"/>
            <a:ext cx="1572768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039112" y="2743200"/>
            <a:ext cx="1572768" cy="4572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36" name="Shape 34"/>
          <p:cNvSpPr/>
          <p:nvPr/>
        </p:nvSpPr>
        <p:spPr>
          <a:xfrm>
            <a:off x="2569464" y="2926080"/>
            <a:ext cx="502920" cy="502920"/>
          </a:xfrm>
          <a:prstGeom prst="ellipse">
            <a:avLst/>
          </a:prstGeom>
          <a:solidFill>
            <a:srgbClr val="4A6CF7"/>
          </a:solidFill>
          <a:ln/>
        </p:spPr>
      </p:sp>
      <p:sp>
        <p:nvSpPr>
          <p:cNvPr id="37" name="Text 35"/>
          <p:cNvSpPr/>
          <p:nvPr/>
        </p:nvSpPr>
        <p:spPr>
          <a:xfrm>
            <a:off x="2569464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2130552" y="352044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758184" y="2743200"/>
            <a:ext cx="1572768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758184" y="2743200"/>
            <a:ext cx="1572768" cy="4572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41" name="Shape 39"/>
          <p:cNvSpPr/>
          <p:nvPr/>
        </p:nvSpPr>
        <p:spPr>
          <a:xfrm>
            <a:off x="4288536" y="2926080"/>
            <a:ext cx="502920" cy="502920"/>
          </a:xfrm>
          <a:prstGeom prst="ellipse">
            <a:avLst/>
          </a:prstGeom>
          <a:solidFill>
            <a:srgbClr val="4A6CF7"/>
          </a:solidFill>
          <a:ln/>
        </p:spPr>
      </p:sp>
      <p:sp>
        <p:nvSpPr>
          <p:cNvPr id="42" name="Text 40"/>
          <p:cNvSpPr/>
          <p:nvPr/>
        </p:nvSpPr>
        <p:spPr>
          <a:xfrm>
            <a:off x="4288536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849624" y="352044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77256" y="2743200"/>
            <a:ext cx="1572768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477256" y="2743200"/>
            <a:ext cx="1572768" cy="4572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46" name="Shape 44"/>
          <p:cNvSpPr/>
          <p:nvPr/>
        </p:nvSpPr>
        <p:spPr>
          <a:xfrm>
            <a:off x="6007608" y="2926080"/>
            <a:ext cx="502920" cy="502920"/>
          </a:xfrm>
          <a:prstGeom prst="ellipse">
            <a:avLst/>
          </a:prstGeom>
          <a:solidFill>
            <a:srgbClr val="4A6CF7"/>
          </a:solidFill>
          <a:ln/>
        </p:spPr>
      </p:sp>
      <p:sp>
        <p:nvSpPr>
          <p:cNvPr id="47" name="Text 45"/>
          <p:cNvSpPr/>
          <p:nvPr/>
        </p:nvSpPr>
        <p:spPr>
          <a:xfrm>
            <a:off x="6007608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568696" y="352044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196328" y="2743200"/>
            <a:ext cx="1572768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196328" y="2743200"/>
            <a:ext cx="1572768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1" name="Shape 49"/>
          <p:cNvSpPr/>
          <p:nvPr/>
        </p:nvSpPr>
        <p:spPr>
          <a:xfrm>
            <a:off x="7726680" y="2926080"/>
            <a:ext cx="502920" cy="50292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52" name="Text 50"/>
          <p:cNvSpPr/>
          <p:nvPr/>
        </p:nvSpPr>
        <p:spPr>
          <a:xfrm>
            <a:off x="772668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7287768" y="352044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Future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55" name="Text 53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covered the complete foundations of AI &amp; Machine Learning!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36576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Congratulations!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&amp; ML Journey Continues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200400" y="2743200"/>
            <a:ext cx="27432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understand the fundamentals of AI &amp; Machine Learning!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3429000"/>
            <a:ext cx="1920240" cy="640080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5204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3429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online courses (Coursera, fast.ai)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560320" y="3429000"/>
            <a:ext cx="1920240" cy="640080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352044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971800" y="3429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on Kaggle competitions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4663440" y="3429000"/>
            <a:ext cx="1920240" cy="640080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52044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074920" y="3429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 AI projects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6766560" y="3429000"/>
            <a:ext cx="1920240" cy="640080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3520440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178040" y="3429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curious &amp; keep learning!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best way to predict the future is to create it."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10: AI Ethics &amp; The Future</dc:title>
  <dc:subject>PptxGenJS Presentation</dc:subject>
  <dc:creator>AI &amp; ML Course</dc:creator>
  <cp:lastModifiedBy>AI &amp; ML Course</cp:lastModifiedBy>
  <cp:revision>1</cp:revision>
  <dcterms:created xsi:type="dcterms:W3CDTF">2026-03-18T07:37:11Z</dcterms:created>
  <dcterms:modified xsi:type="dcterms:W3CDTF">2026-03-18T07:37:11Z</dcterms:modified>
</cp:coreProperties>
</file>