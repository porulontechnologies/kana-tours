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Machine Learning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&amp; Reinforcement Learning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 3 Types of Machine Learning?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463040"/>
            <a:ext cx="822960" cy="82296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002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with labeled examples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3611880"/>
            <a:ext cx="2194560" cy="64008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teacher with an answer key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2344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23444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1"/>
          <p:cNvSpPr/>
          <p:nvPr/>
        </p:nvSpPr>
        <p:spPr>
          <a:xfrm>
            <a:off x="4206240" y="146304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002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52044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 in unlabeled data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566160" y="3611880"/>
            <a:ext cx="2194560" cy="64008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19" name="Text 15"/>
          <p:cNvSpPr/>
          <p:nvPr/>
        </p:nvSpPr>
        <p:spPr>
          <a:xfrm>
            <a:off x="361188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sorting buttons without instructions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17920" y="12344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234440"/>
            <a:ext cx="265176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2" name="Shape 18"/>
          <p:cNvSpPr/>
          <p:nvPr/>
        </p:nvSpPr>
        <p:spPr>
          <a:xfrm>
            <a:off x="7086600" y="1463040"/>
            <a:ext cx="822960" cy="822960"/>
          </a:xfrm>
          <a:prstGeom prst="ellipse">
            <a:avLst/>
          </a:prstGeom>
          <a:solidFill>
            <a:srgbClr val="E85D7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0020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40080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trial &amp; error with rewards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446520" y="3611880"/>
            <a:ext cx="2194560" cy="64008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27" name="Text 22"/>
          <p:cNvSpPr/>
          <p:nvPr/>
        </p:nvSpPr>
        <p:spPr>
          <a:xfrm>
            <a:off x="649224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training a dog with treats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Learning — Deep Dive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64008" cy="9144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</a:t>
            </a:r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the computer input AND the correct answer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645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teacher showing flashcards with answers on the back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Supervised Learning: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7889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Email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639312"/>
            <a:ext cx="27432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/ Not Spam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246120" y="26974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78892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38328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Photo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639312"/>
            <a:ext cx="27432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832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/ Dog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035040" y="26974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2788920"/>
            <a:ext cx="502920" cy="5029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7220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House Features</a:t>
            </a:r>
            <a:endParaRPr lang="en-US" sz="13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3639312"/>
            <a:ext cx="27432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17220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$350,000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6" name="Text 17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The computer learns from labeled data — input + correct answer pairs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Supervised Learning Work?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thousands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examples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78308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37560" y="11887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4251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5204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204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new unlabeled data,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predictions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0" y="1188720"/>
            <a:ext cx="26517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0" name="Shape 16"/>
          <p:cNvSpPr/>
          <p:nvPr/>
        </p:nvSpPr>
        <p:spPr>
          <a:xfrm>
            <a:off x="7132320" y="1371600"/>
            <a:ext cx="640080" cy="640080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21" name="Text 17"/>
          <p:cNvSpPr/>
          <p:nvPr/>
        </p:nvSpPr>
        <p:spPr>
          <a:xfrm>
            <a:off x="71323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40080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0080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 real-world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Supervised Learning: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457200" y="333756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57200" y="3337560"/>
            <a:ext cx="64008" cy="141732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29000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23444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123444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CATEGORIES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77240" y="40416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or Not Spam?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or Dog?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or Healthy?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800600" y="333756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800600" y="3337560"/>
            <a:ext cx="64008" cy="1417320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29000"/>
            <a:ext cx="411480" cy="4114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57784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557784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NUMBERS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120640" y="404164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= $350,000?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72°F?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= $142.50?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Learning — Deep Dive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6400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</a:t>
            </a:r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input WITHOUT answers — the computer finds patterns on its own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645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sorting a pile of mixed buttons without being told the categories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3886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86000"/>
            <a:ext cx="3886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7432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Feed UNLABELED data
</a:t>
            </a:r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(no answers provided)
</a:t>
            </a:r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Algorithm finds PATTERNS
</a:t>
            </a:r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(similarities, clusters, structure)
</a:t>
            </a:r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gets GROUPED
</a:t>
            </a:r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(into meaningful categories)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2286000"/>
            <a:ext cx="3886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2286000"/>
            <a:ext cx="3886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498348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5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8346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 buyers by behavior)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461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similar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articles together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576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unusual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(fraud detection)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17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No labels needed — the computer discovers hidden structure in the data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 — Deep Dive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88720"/>
            <a:ext cx="64008" cy="91440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</a:t>
            </a:r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learns by doing actions and getting rewards or punishments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645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training a dog — reward for good behavior, no treat for bad behavior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3886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86000"/>
            <a:ext cx="388620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RL Loop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7432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Agent takes an ACTION
</a:t>
            </a:r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(robot moves forward)
</a:t>
            </a:r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Environment gives FEEDBACK
</a:t>
            </a:r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(reward +1 or penalty -1)
</a:t>
            </a:r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 ADJUSTS strategy
</a:t>
            </a:r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(try something different next time)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2286000"/>
            <a:ext cx="3886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2286000"/>
            <a:ext cx="388620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5" name="Text 12"/>
          <p:cNvSpPr/>
          <p:nvPr/>
        </p:nvSpPr>
        <p:spPr>
          <a:xfrm>
            <a:off x="498348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5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8346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Game-playing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(AlphaGo, chess engines)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461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navigation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(learn to walk, pick objects)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576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(learn driving strategies)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3" name="Text 17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Learn by doing — maximize rewards through trial and error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Should You Use Each Type?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have...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0" y="1188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type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64008" cy="86868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916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labeled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 + correct answers)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984248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94960" y="1856232"/>
            <a:ext cx="2286000" cy="5029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2" name="Text 9"/>
          <p:cNvSpPr/>
          <p:nvPr/>
        </p:nvSpPr>
        <p:spPr>
          <a:xfrm>
            <a:off x="5394960" y="1856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892808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26517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651760"/>
            <a:ext cx="64008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26517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— you want 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hidden groups/patterns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44368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394960" y="2816352"/>
            <a:ext cx="22860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4"/>
          <p:cNvSpPr/>
          <p:nvPr/>
        </p:nvSpPr>
        <p:spPr>
          <a:xfrm>
            <a:off x="5394960" y="28163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852928"/>
            <a:ext cx="411480" cy="4114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3611880"/>
            <a:ext cx="64008" cy="86868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3" name="Text 17"/>
          <p:cNvSpPr/>
          <p:nvPr/>
        </p:nvSpPr>
        <p:spPr>
          <a:xfrm>
            <a:off x="777240" y="36118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learn a strategy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trial &amp; error</a:t>
            </a:r>
            <a:endParaRPr lang="en-US" sz="13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904488"/>
            <a:ext cx="274320" cy="27432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394960" y="3776472"/>
            <a:ext cx="2286000" cy="50292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26" name="Text 19"/>
          <p:cNvSpPr/>
          <p:nvPr/>
        </p:nvSpPr>
        <p:spPr>
          <a:xfrm>
            <a:off x="5394960" y="37764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4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3813048"/>
            <a:ext cx="411480" cy="4114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407408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51560" y="43434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Most real-world ML applications use Supervised Learning!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Each Type Used? (Real Examples)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9436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618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" y="19659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94360" y="26517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94360" y="33375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2900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94360" y="40233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14800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337560" y="118872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3337560" y="1188720"/>
            <a:ext cx="2651760" cy="5943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1261872"/>
            <a:ext cx="411480" cy="4114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97764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3474720" y="19659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2057400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06908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segmentation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3474720" y="26517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2743200"/>
            <a:ext cx="347472" cy="34747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06908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3474720" y="33375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3429000"/>
            <a:ext cx="347472" cy="34747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06908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3474720" y="40233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1880" y="4114800"/>
            <a:ext cx="347472" cy="34747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069080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compression</a:t>
            </a:r>
            <a:endParaRPr lang="en-US" sz="1200" dirty="0"/>
          </a:p>
        </p:txBody>
      </p:sp>
      <p:sp>
        <p:nvSpPr>
          <p:cNvPr id="36" name="Shape 24"/>
          <p:cNvSpPr/>
          <p:nvPr/>
        </p:nvSpPr>
        <p:spPr>
          <a:xfrm>
            <a:off x="6217920" y="118872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6217920" y="1188720"/>
            <a:ext cx="2651760" cy="594360"/>
          </a:xfrm>
          <a:prstGeom prst="rect">
            <a:avLst/>
          </a:prstGeom>
          <a:solidFill>
            <a:srgbClr val="E85D75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261872"/>
            <a:ext cx="411480" cy="4114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85800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600" dirty="0"/>
          </a:p>
        </p:txBody>
      </p:sp>
      <p:sp>
        <p:nvSpPr>
          <p:cNvPr id="40" name="Shape 27"/>
          <p:cNvSpPr/>
          <p:nvPr/>
        </p:nvSpPr>
        <p:spPr>
          <a:xfrm>
            <a:off x="6355080" y="19659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2057400"/>
            <a:ext cx="347472" cy="347472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94944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200" dirty="0"/>
          </a:p>
        </p:txBody>
      </p:sp>
      <p:sp>
        <p:nvSpPr>
          <p:cNvPr id="43" name="Shape 29"/>
          <p:cNvSpPr/>
          <p:nvPr/>
        </p:nvSpPr>
        <p:spPr>
          <a:xfrm>
            <a:off x="6355080" y="26517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2743200"/>
            <a:ext cx="347472" cy="347472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694944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AI</a:t>
            </a:r>
            <a:endParaRPr lang="en-US" sz="1200" dirty="0"/>
          </a:p>
        </p:txBody>
      </p:sp>
      <p:sp>
        <p:nvSpPr>
          <p:cNvPr id="46" name="Shape 31"/>
          <p:cNvSpPr/>
          <p:nvPr/>
        </p:nvSpPr>
        <p:spPr>
          <a:xfrm>
            <a:off x="6355080" y="33375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3429000"/>
            <a:ext cx="347472" cy="347472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94944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200" dirty="0"/>
          </a:p>
        </p:txBody>
      </p:sp>
      <p:sp>
        <p:nvSpPr>
          <p:cNvPr id="49" name="Shape 33"/>
          <p:cNvSpPr/>
          <p:nvPr/>
        </p:nvSpPr>
        <p:spPr>
          <a:xfrm>
            <a:off x="6355080" y="4023360"/>
            <a:ext cx="2377440" cy="548640"/>
          </a:xfrm>
          <a:prstGeom prst="rect">
            <a:avLst/>
          </a:prstGeom>
          <a:solidFill>
            <a:srgbClr val="F0F2F8"/>
          </a:solidFill>
          <a:ln/>
        </p:spPr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240" y="4114800"/>
            <a:ext cx="347472" cy="347472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6949440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86868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356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1645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labeled examples, it learns to predict — like studying with an answer key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40280"/>
            <a:ext cx="64008" cy="8686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4144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286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25880" y="2651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data without labels, it finds hidden patterns — like sorting without instructions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246120"/>
            <a:ext cx="64008" cy="868680"/>
          </a:xfrm>
          <a:prstGeom prst="rect">
            <a:avLst/>
          </a:prstGeom>
          <a:solidFill>
            <a:srgbClr val="E85D7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4728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91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25880" y="3657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learn by trial &amp; error with rewards — like training a pet with treats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you choose depends on your DATA and your GOAL!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4, we'll learn: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The Fuel of AI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collected, cleaned, and prepared for Machine Learning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hands-on exercises that come with this module!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Types of Machine Learning</dc:title>
  <dc:subject>PptxGenJS Presentation</dc:subject>
  <dc:creator>AI &amp; ML Course</dc:creator>
  <cp:lastModifiedBy>AI &amp; ML Course</cp:lastModifiedBy>
  <cp:revision>1</cp:revision>
  <dcterms:created xsi:type="dcterms:W3CDTF">2026-03-18T07:35:50Z</dcterms:created>
  <dcterms:modified xsi:type="dcterms:W3CDTF">2026-03-18T07:35:50Z</dcterms:modified>
</cp:coreProperties>
</file>