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548640"/>
            <a:ext cx="1097280" cy="10972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737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6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457200" y="22860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Linear Regression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457200" y="33832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First ML Algorithm — Predicting Numbers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3200400" y="4206240"/>
            <a:ext cx="2743200" cy="36576"/>
          </a:xfrm>
          <a:prstGeom prst="rect">
            <a:avLst/>
          </a:prstGeom>
          <a:solidFill>
            <a:srgbClr val="00D4AA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Linear Regression?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82296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34440"/>
            <a:ext cx="64008" cy="1005840"/>
          </a:xfrm>
          <a:prstGeom prst="rect">
            <a:avLst/>
          </a:prstGeom>
          <a:solidFill>
            <a:srgbClr val="4A6CF7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23444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6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Drawing the best straight line through data points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1737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predicts a NUMBER (not a category) — like predicting price, temperature, or score.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468880"/>
            <a:ext cx="397764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651760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80160" y="26060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Numbers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280160" y="29718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values like $250,000 or 72.5°F — not categories like "yes" or "no"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709160" y="2468880"/>
            <a:ext cx="397764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265176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532120" y="26060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Fit Line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5532120" y="29718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the ONE line that best represents the pattern in all your data points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57200" y="3886200"/>
            <a:ext cx="8229600" cy="914400"/>
          </a:xfrm>
          <a:prstGeom prst="rect">
            <a:avLst/>
          </a:prstGeom>
          <a:solidFill>
            <a:srgbClr val="4A6CF7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069080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280160" y="3886200"/>
            <a:ext cx="7223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Analogy: If taller people tend to weigh more, you can draw a line on a graph to predict someone's weight just from their height!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Does Linear Regression Work?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34440"/>
            <a:ext cx="64008" cy="109728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280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Magic Formula: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160020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4A6C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 = mx + b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4114800" y="1325880"/>
            <a:ext cx="2103120" cy="868680"/>
          </a:xfrm>
          <a:prstGeom prst="rect">
            <a:avLst/>
          </a:prstGeom>
          <a:solidFill>
            <a:srgbClr val="4A6CF7"/>
          </a:solidFill>
          <a:ln/>
        </p:spPr>
      </p:sp>
      <p:sp>
        <p:nvSpPr>
          <p:cNvPr id="9" name="Text 7"/>
          <p:cNvSpPr/>
          <p:nvPr/>
        </p:nvSpPr>
        <p:spPr>
          <a:xfrm>
            <a:off x="4206240" y="13716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= slope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206240" y="16916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steep the line is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0" y="1325880"/>
            <a:ext cx="2103120" cy="868680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13716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= intercept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92240" y="16916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line crosses y-axis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606040"/>
            <a:ext cx="265176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606040"/>
            <a:ext cx="2651760" cy="54864"/>
          </a:xfrm>
          <a:prstGeom prst="rect">
            <a:avLst/>
          </a:prstGeom>
          <a:solidFill>
            <a:srgbClr val="4A6CF7"/>
          </a:solidFill>
          <a:ln/>
        </p:spPr>
      </p:sp>
      <p:sp>
        <p:nvSpPr>
          <p:cNvPr id="16" name="Shape 14"/>
          <p:cNvSpPr/>
          <p:nvPr/>
        </p:nvSpPr>
        <p:spPr>
          <a:xfrm>
            <a:off x="1417320" y="2788920"/>
            <a:ext cx="640080" cy="640080"/>
          </a:xfrm>
          <a:prstGeom prst="ellipse">
            <a:avLst/>
          </a:prstGeom>
          <a:solidFill>
            <a:srgbClr val="4A6CF7"/>
          </a:solidFill>
          <a:ln/>
        </p:spPr>
      </p:sp>
      <p:sp>
        <p:nvSpPr>
          <p:cNvPr id="17" name="Text 15"/>
          <p:cNvSpPr/>
          <p:nvPr/>
        </p:nvSpPr>
        <p:spPr>
          <a:xfrm>
            <a:off x="1417320" y="2788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40080" y="35204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DATA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38404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all your data points on a scatter plot (x,y pairs)</a:t>
            </a:r>
            <a:endParaRPr lang="en-US" sz="105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54680" y="3246120"/>
            <a:ext cx="274320" cy="274320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3337560" y="2606040"/>
            <a:ext cx="265176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3337560" y="2606040"/>
            <a:ext cx="2651760" cy="54864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23" name="Shape 20"/>
          <p:cNvSpPr/>
          <p:nvPr/>
        </p:nvSpPr>
        <p:spPr>
          <a:xfrm>
            <a:off x="4297680" y="2788920"/>
            <a:ext cx="640080" cy="640080"/>
          </a:xfrm>
          <a:prstGeom prst="ellipse">
            <a:avLst/>
          </a:prstGeom>
          <a:solidFill>
            <a:srgbClr val="00B894"/>
          </a:solidFill>
          <a:ln/>
        </p:spPr>
      </p:sp>
      <p:sp>
        <p:nvSpPr>
          <p:cNvPr id="24" name="Text 21"/>
          <p:cNvSpPr/>
          <p:nvPr/>
        </p:nvSpPr>
        <p:spPr>
          <a:xfrm>
            <a:off x="4297680" y="2788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25" name="Text 22"/>
          <p:cNvSpPr/>
          <p:nvPr/>
        </p:nvSpPr>
        <p:spPr>
          <a:xfrm>
            <a:off x="3520440" y="35204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BEST LINE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3520440" y="38404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algorithm finds the line that minimizes total distance to all points</a:t>
            </a:r>
            <a:endParaRPr lang="en-US" sz="1050" dirty="0"/>
          </a:p>
        </p:txBody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3246120"/>
            <a:ext cx="274320" cy="274320"/>
          </a:xfrm>
          <a:prstGeom prst="rect">
            <a:avLst/>
          </a:prstGeom>
        </p:spPr>
      </p:pic>
      <p:sp>
        <p:nvSpPr>
          <p:cNvPr id="28" name="Shape 24"/>
          <p:cNvSpPr/>
          <p:nvPr/>
        </p:nvSpPr>
        <p:spPr>
          <a:xfrm>
            <a:off x="6217920" y="2606040"/>
            <a:ext cx="265176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6217920" y="2606040"/>
            <a:ext cx="2651760" cy="54864"/>
          </a:xfrm>
          <a:prstGeom prst="rect">
            <a:avLst/>
          </a:prstGeom>
          <a:solidFill>
            <a:srgbClr val="E85D75"/>
          </a:solidFill>
          <a:ln/>
        </p:spPr>
      </p:sp>
      <p:sp>
        <p:nvSpPr>
          <p:cNvPr id="30" name="Shape 26"/>
          <p:cNvSpPr/>
          <p:nvPr/>
        </p:nvSpPr>
        <p:spPr>
          <a:xfrm>
            <a:off x="7178040" y="2788920"/>
            <a:ext cx="640080" cy="640080"/>
          </a:xfrm>
          <a:prstGeom prst="ellipse">
            <a:avLst/>
          </a:prstGeom>
          <a:solidFill>
            <a:srgbClr val="E85D75"/>
          </a:solidFill>
          <a:ln/>
        </p:spPr>
      </p:sp>
      <p:sp>
        <p:nvSpPr>
          <p:cNvPr id="31" name="Text 27"/>
          <p:cNvSpPr/>
          <p:nvPr/>
        </p:nvSpPr>
        <p:spPr>
          <a:xfrm>
            <a:off x="7178040" y="2788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32" name="Text 28"/>
          <p:cNvSpPr/>
          <p:nvPr/>
        </p:nvSpPr>
        <p:spPr>
          <a:xfrm>
            <a:off x="6400800" y="35204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PREDICT!</a:t>
            </a:r>
            <a:endParaRPr lang="en-US" sz="1300" dirty="0"/>
          </a:p>
        </p:txBody>
      </p:sp>
      <p:sp>
        <p:nvSpPr>
          <p:cNvPr id="33" name="Text 29"/>
          <p:cNvSpPr/>
          <p:nvPr/>
        </p:nvSpPr>
        <p:spPr>
          <a:xfrm>
            <a:off x="6400800" y="38404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line equation to predict y for any new x value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Math Made Simple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39776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34440"/>
            <a:ext cx="3977640" cy="54864"/>
          </a:xfrm>
          <a:prstGeom prst="rect">
            <a:avLst/>
          </a:prstGeom>
          <a:solidFill>
            <a:srgbClr val="4A6CF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4173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6C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Slope (m)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18288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y changes when x changes by 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24028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For every extra sq. ft., the house price goes up $150. That means m = 150.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1234440"/>
            <a:ext cx="39776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234440"/>
            <a:ext cx="397764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1" name="Text 9"/>
          <p:cNvSpPr/>
          <p:nvPr/>
        </p:nvSpPr>
        <p:spPr>
          <a:xfrm>
            <a:off x="4983480" y="14173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B8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Intercept (b)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983480" y="18288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starting point — value of y when x = 0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83480" y="224028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 house with 0 sq. ft. "costs" $50,000 (the base price). That means b = 50,000.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291840"/>
            <a:ext cx="82296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291840"/>
            <a:ext cx="64008" cy="914400"/>
          </a:xfrm>
          <a:prstGeom prst="rect">
            <a:avLst/>
          </a:prstGeom>
          <a:solidFill>
            <a:srgbClr val="4A6CF7"/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474720"/>
            <a:ext cx="411480" cy="41148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325880" y="333756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6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Example:  price = 150 × sqft + 50,000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1325880" y="374904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1,200 sq. ft. house: price = 150 × 1200 + 50,000 = $230,000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57200" y="4434840"/>
            <a:ext cx="8229600" cy="41148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20" name="Text 17"/>
          <p:cNvSpPr/>
          <p:nvPr/>
        </p:nvSpPr>
        <p:spPr>
          <a:xfrm>
            <a:off x="640080" y="443484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worry about memorizing formulas — computers calculate this for you!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to Use Linear Regression?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25603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137160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8745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Numbers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0080" y="21945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output is a continuous number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(not a category like yes/no)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246120" y="1234440"/>
            <a:ext cx="25603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137160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429000" y="18745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Relationship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3429000" y="21945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relationship between input and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looks roughly like a straight line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6035040" y="1234440"/>
            <a:ext cx="25603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137160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217920" y="18745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Output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6217920" y="21945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can be anything on a range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(e.g., $0 to $1,000,000)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457200" y="3017520"/>
            <a:ext cx="8229600" cy="411480"/>
          </a:xfrm>
          <a:prstGeom prst="rect">
            <a:avLst/>
          </a:prstGeom>
          <a:solidFill>
            <a:srgbClr val="4A6CF7"/>
          </a:solidFill>
          <a:ln/>
        </p:spPr>
      </p:sp>
      <p:sp>
        <p:nvSpPr>
          <p:cNvPr id="17" name="Text 12"/>
          <p:cNvSpPr/>
          <p:nvPr/>
        </p:nvSpPr>
        <p:spPr>
          <a:xfrm>
            <a:off x="640080" y="301752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Examples Where Linear Regression Shines</a:t>
            </a:r>
            <a:endParaRPr lang="en-US" sz="1500" dirty="0"/>
          </a:p>
        </p:txBody>
      </p:sp>
      <p:sp>
        <p:nvSpPr>
          <p:cNvPr id="18" name="Shape 13"/>
          <p:cNvSpPr/>
          <p:nvPr/>
        </p:nvSpPr>
        <p:spPr>
          <a:xfrm>
            <a:off x="457200" y="3657600"/>
            <a:ext cx="169164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3749040"/>
            <a:ext cx="411480" cy="41148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48640" y="416052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Prices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548640" y="440740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→ Price</a:t>
            </a:r>
            <a:endParaRPr lang="en-US" sz="950" dirty="0"/>
          </a:p>
        </p:txBody>
      </p:sp>
      <p:sp>
        <p:nvSpPr>
          <p:cNvPr id="22" name="Shape 16"/>
          <p:cNvSpPr/>
          <p:nvPr/>
        </p:nvSpPr>
        <p:spPr>
          <a:xfrm>
            <a:off x="2377440" y="3657600"/>
            <a:ext cx="169164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71800" y="3749040"/>
            <a:ext cx="411480" cy="41148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2468880" y="416052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</a:t>
            </a:r>
            <a:endParaRPr lang="en-US" sz="1100" dirty="0"/>
          </a:p>
        </p:txBody>
      </p:sp>
      <p:sp>
        <p:nvSpPr>
          <p:cNvPr id="25" name="Text 18"/>
          <p:cNvSpPr/>
          <p:nvPr/>
        </p:nvSpPr>
        <p:spPr>
          <a:xfrm>
            <a:off x="2468880" y="440740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 → Temp</a:t>
            </a:r>
            <a:endParaRPr lang="en-US" sz="950" dirty="0"/>
          </a:p>
        </p:txBody>
      </p:sp>
      <p:sp>
        <p:nvSpPr>
          <p:cNvPr id="26" name="Shape 19"/>
          <p:cNvSpPr/>
          <p:nvPr/>
        </p:nvSpPr>
        <p:spPr>
          <a:xfrm>
            <a:off x="4297680" y="3657600"/>
            <a:ext cx="169164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3749040"/>
            <a:ext cx="411480" cy="41148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4389120" y="416052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</a:t>
            </a:r>
            <a:endParaRPr lang="en-US" sz="1100" dirty="0"/>
          </a:p>
        </p:txBody>
      </p:sp>
      <p:sp>
        <p:nvSpPr>
          <p:cNvPr id="29" name="Text 21"/>
          <p:cNvSpPr/>
          <p:nvPr/>
        </p:nvSpPr>
        <p:spPr>
          <a:xfrm>
            <a:off x="4389120" y="440740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→ Pay</a:t>
            </a:r>
            <a:endParaRPr lang="en-US" sz="950" dirty="0"/>
          </a:p>
        </p:txBody>
      </p:sp>
      <p:sp>
        <p:nvSpPr>
          <p:cNvPr id="30" name="Shape 22"/>
          <p:cNvSpPr/>
          <p:nvPr/>
        </p:nvSpPr>
        <p:spPr>
          <a:xfrm>
            <a:off x="6217920" y="3657600"/>
            <a:ext cx="169164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12280" y="3749040"/>
            <a:ext cx="411480" cy="411480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6309360" y="416052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1100" dirty="0"/>
          </a:p>
        </p:txBody>
      </p:sp>
      <p:sp>
        <p:nvSpPr>
          <p:cNvPr id="33" name="Text 24"/>
          <p:cNvSpPr/>
          <p:nvPr/>
        </p:nvSpPr>
        <p:spPr>
          <a:xfrm>
            <a:off x="6309360" y="440740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spend → Revenue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is Linear Regression Used?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64008" cy="658368"/>
          </a:xfrm>
          <a:prstGeom prst="rect">
            <a:avLst/>
          </a:prstGeom>
          <a:solidFill>
            <a:srgbClr val="4A6CF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07592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234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Estate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325880" y="153619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house prices based on size, location, bedrooms, age of the building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7200" y="1938528"/>
            <a:ext cx="822960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" y="1938528"/>
            <a:ext cx="64008" cy="658368"/>
          </a:xfrm>
          <a:prstGeom prst="rect">
            <a:avLst/>
          </a:prstGeom>
          <a:solidFill>
            <a:srgbClr val="00B894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05740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25880" y="198424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1325880" y="228600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forecasting, demand prediction, inventory planning, budget estimation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57200" y="2688336"/>
            <a:ext cx="822960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57200" y="2688336"/>
            <a:ext cx="64008" cy="658368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807208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25880" y="273405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325880" y="303580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Analyzing trends in experiments, climate data, population growth patterns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57200" y="3438144"/>
            <a:ext cx="822960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57200" y="3438144"/>
            <a:ext cx="64008" cy="658368"/>
          </a:xfrm>
          <a:prstGeom prst="rect">
            <a:avLst/>
          </a:prstGeom>
          <a:solidFill>
            <a:srgbClr val="E85D75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557016"/>
            <a:ext cx="411480" cy="4114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25880" y="348386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1325880" y="3785616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price direction, risk assessment, economic indicator relationships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57200" y="4187952"/>
            <a:ext cx="822960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7200" y="4187952"/>
            <a:ext cx="64008" cy="658368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4306824"/>
            <a:ext cx="411480" cy="41148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325880" y="42336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1325880" y="4535424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spend vs revenue, customer lifetime value, campaign ROI prediction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 Metrics Measure Success?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397764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34440"/>
            <a:ext cx="3977640" cy="54864"/>
          </a:xfrm>
          <a:prstGeom prst="rect">
            <a:avLst/>
          </a:prstGeom>
          <a:solidFill>
            <a:srgbClr val="4A6CF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4173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6C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Mean Absolute Error (MAE)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18288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mistake size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148840"/>
            <a:ext cx="3474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"On average, my predictions are off by $X"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MAE = Better predictions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understand and explain!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1234440"/>
            <a:ext cx="397764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234440"/>
            <a:ext cx="397764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1" name="Text 9"/>
          <p:cNvSpPr/>
          <p:nvPr/>
        </p:nvSpPr>
        <p:spPr>
          <a:xfrm>
            <a:off x="4983480" y="14173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B8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R² Score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983480" y="18288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well the line fits the data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83480" y="2148840"/>
            <a:ext cx="3474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from 0 to 1: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0.0 = line explains nothing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0.5 = decent fit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0.9 = excellent fit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1.0 = perfect (suspicious!)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474720"/>
            <a:ext cx="39776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611880"/>
            <a:ext cx="365760" cy="36576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188720" y="35661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Fit (R² = 0.92)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188720" y="38862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cluster tightly around the line. Predictions are reliable and consistent.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4709160" y="3474720"/>
            <a:ext cx="39776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3611880"/>
            <a:ext cx="365760" cy="36576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440680" y="35661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Fit (R² = 0.15)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5440680" y="38862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are scattered far from the line. Predictions are unreliable — try a different approach.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Common Mistakes to Avoid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64008" cy="7772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325880"/>
            <a:ext cx="502920" cy="50292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325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17320" y="1261872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Assuming Everything is Linear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17320" y="1581912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all relationships are straight lines! Always plot your data first to check.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05740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057400"/>
            <a:ext cx="64008" cy="7772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0" y="2194560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17320" y="2130552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Ignoring Outliers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17320" y="2450592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few extreme data points can drag your line way off. Identify and handle them.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292608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926080"/>
            <a:ext cx="64008" cy="7772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8" name="Shape 16"/>
          <p:cNvSpPr/>
          <p:nvPr/>
        </p:nvSpPr>
        <p:spPr>
          <a:xfrm>
            <a:off x="731520" y="3063240"/>
            <a:ext cx="502920" cy="5029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417320" y="2999232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Enough Data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417320" y="3319272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too few points, your line won't generalize. More data = more reliable results.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57200" y="379476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3794760"/>
            <a:ext cx="64008" cy="777240"/>
          </a:xfrm>
          <a:prstGeom prst="rect">
            <a:avLst/>
          </a:prstGeom>
          <a:solidFill>
            <a:srgbClr val="4A6CF7"/>
          </a:solidFill>
          <a:ln/>
        </p:spPr>
      </p:sp>
      <p:sp>
        <p:nvSpPr>
          <p:cNvPr id="24" name="Shape 22"/>
          <p:cNvSpPr/>
          <p:nvPr/>
        </p:nvSpPr>
        <p:spPr>
          <a:xfrm>
            <a:off x="731520" y="3931920"/>
            <a:ext cx="502920" cy="502920"/>
          </a:xfrm>
          <a:prstGeom prst="ellipse">
            <a:avLst/>
          </a:prstGeom>
          <a:solidFill>
            <a:srgbClr val="4A6CF7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417320" y="3867912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 vs Underfitting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417320" y="4187952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complex = memorizes noise (overfit). Too simple = misses patterns (underfit).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82296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25880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234440"/>
            <a:ext cx="7223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draws the best straight line through your data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1947672"/>
            <a:ext cx="82296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039112"/>
            <a:ext cx="384048" cy="38404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88720" y="1947672"/>
            <a:ext cx="7223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predicts numbers using y = mx + b (slope and intercept)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457200" y="2660904"/>
            <a:ext cx="82296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752344"/>
            <a:ext cx="384048" cy="38404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88720" y="2660904"/>
            <a:ext cx="7223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when the relationship between variables looks roughly linear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457200" y="3374136"/>
            <a:ext cx="82296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465576"/>
            <a:ext cx="384048" cy="38404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188720" y="3374136"/>
            <a:ext cx="7223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tells you average error; R² tells you how well the line fits</a:t>
            </a:r>
            <a:endParaRPr lang="en-US" sz="1400" dirty="0"/>
          </a:p>
        </p:txBody>
      </p:sp>
      <p:sp>
        <p:nvSpPr>
          <p:cNvPr id="16" name="Shape 10"/>
          <p:cNvSpPr/>
          <p:nvPr/>
        </p:nvSpPr>
        <p:spPr>
          <a:xfrm>
            <a:off x="457200" y="4087368"/>
            <a:ext cx="82296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178808"/>
            <a:ext cx="384048" cy="38404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188720" y="4087368"/>
            <a:ext cx="7223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visualize your data first — not everything is linear!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640080"/>
            <a:ext cx="1097280" cy="10972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Next?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3200400" y="2606040"/>
            <a:ext cx="2743200" cy="36576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Module 6, we'll learn: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457200" y="32461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— Predicting Categories Instead of Numbers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457200" y="3794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email spam or not? Will the customer buy or leave?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answers YES/NO and category questions!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the hands-on exercises that come with this module!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5: Linear Regression</dc:title>
  <dc:subject>PptxGenJS Presentation</dc:subject>
  <dc:creator>AI &amp; ML Course</dc:creator>
  <cp:lastModifiedBy>AI &amp; ML Course</cp:lastModifiedBy>
  <cp:revision>1</cp:revision>
  <dcterms:created xsi:type="dcterms:W3CDTF">2026-03-18T07:36:02Z</dcterms:created>
  <dcterms:modified xsi:type="dcterms:W3CDTF">2026-03-18T07:36:02Z</dcterms:modified>
</cp:coreProperties>
</file>