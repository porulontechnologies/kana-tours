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548640"/>
            <a:ext cx="1097280" cy="1097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737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6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— The Fuel of AI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57200" y="3383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Data, No AI: Understanding What Makes AI Smart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3200400" y="4206240"/>
            <a:ext cx="2743200" cy="36576"/>
          </a:xfrm>
          <a:prstGeom prst="rect">
            <a:avLst/>
          </a:prstGeom>
          <a:solidFill>
            <a:srgbClr val="00D4A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Data?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64008" cy="914400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2344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6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= Facts, numbers, text, images — anything measurable or recordable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16916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the raw material that AI learns from — without it, AI can't do anything!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38862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377440"/>
            <a:ext cx="3886200" cy="54864"/>
          </a:xfrm>
          <a:prstGeom prst="rect">
            <a:avLst/>
          </a:prstGeom>
          <a:solidFill>
            <a:srgbClr val="4A6CF7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560320"/>
            <a:ext cx="411480" cy="4114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34440" y="25420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85800" y="30175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Organized in rows &amp; columns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spreadsheets and databases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85800" y="3474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6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tables, SQL databases,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4A6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files, forms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800600" y="2377440"/>
            <a:ext cx="38862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800600" y="2377440"/>
            <a:ext cx="3886200" cy="54864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560320"/>
            <a:ext cx="411480" cy="4114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577840" y="25420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Data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5029200" y="30175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fixed format — messy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harder to organize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5029200" y="3474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6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Photos, emails, social media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4A6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posts, videos, audio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457200" y="4160520"/>
            <a:ext cx="8229600" cy="640080"/>
          </a:xfrm>
          <a:prstGeom prst="rect">
            <a:avLst/>
          </a:prstGeom>
          <a:solidFill>
            <a:srgbClr val="4A6CF7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251960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143000" y="4160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Data is to AI what ingredients are to cooking — you need the right ones to make a great dish!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Does AI Use Data?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280160"/>
            <a:ext cx="19659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280160"/>
            <a:ext cx="1965960" cy="54864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6" name="Shape 4"/>
          <p:cNvSpPr/>
          <p:nvPr/>
        </p:nvSpPr>
        <p:spPr>
          <a:xfrm>
            <a:off x="978408" y="1463040"/>
            <a:ext cx="594360" cy="594360"/>
          </a:xfrm>
          <a:prstGeom prst="ellipse">
            <a:avLst/>
          </a:prstGeom>
          <a:solidFill>
            <a:srgbClr val="4A6CF7"/>
          </a:solidFill>
          <a:ln/>
        </p:spPr>
      </p:sp>
      <p:sp>
        <p:nvSpPr>
          <p:cNvPr id="7" name="Text 5"/>
          <p:cNvSpPr/>
          <p:nvPr/>
        </p:nvSpPr>
        <p:spPr>
          <a:xfrm>
            <a:off x="978408" y="1463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1480" y="21488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4688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facts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numbers</a:t>
            </a:r>
            <a:endParaRPr lang="en-US" sz="10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3432" y="2011680"/>
            <a:ext cx="256032" cy="25603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532888" y="1280160"/>
            <a:ext cx="19659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532888" y="1280160"/>
            <a:ext cx="1965960" cy="54864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13" name="Shape 10"/>
          <p:cNvSpPr/>
          <p:nvPr/>
        </p:nvSpPr>
        <p:spPr>
          <a:xfrm>
            <a:off x="3191256" y="1463040"/>
            <a:ext cx="594360" cy="594360"/>
          </a:xfrm>
          <a:prstGeom prst="ellipse">
            <a:avLst/>
          </a:prstGeom>
          <a:solidFill>
            <a:srgbClr val="00B894"/>
          </a:solidFill>
          <a:ln/>
        </p:spPr>
      </p:sp>
      <p:sp>
        <p:nvSpPr>
          <p:cNvPr id="14" name="Text 11"/>
          <p:cNvSpPr/>
          <p:nvPr/>
        </p:nvSpPr>
        <p:spPr>
          <a:xfrm>
            <a:off x="3191256" y="1463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2624328" y="21488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2624328" y="24688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characteristics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</a:t>
            </a:r>
            <a:endParaRPr lang="en-US" sz="10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2011680"/>
            <a:ext cx="256032" cy="256032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745736" y="1280160"/>
            <a:ext cx="19659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745736" y="1280160"/>
            <a:ext cx="196596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0" name="Shape 16"/>
          <p:cNvSpPr/>
          <p:nvPr/>
        </p:nvSpPr>
        <p:spPr>
          <a:xfrm>
            <a:off x="5404104" y="1463040"/>
            <a:ext cx="594360" cy="5943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1" name="Text 17"/>
          <p:cNvSpPr/>
          <p:nvPr/>
        </p:nvSpPr>
        <p:spPr>
          <a:xfrm>
            <a:off x="5404104" y="1463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18"/>
          <p:cNvSpPr/>
          <p:nvPr/>
        </p:nvSpPr>
        <p:spPr>
          <a:xfrm>
            <a:off x="4837176" y="21488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LEARNS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4837176" y="24688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patterns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rules</a:t>
            </a:r>
            <a:endParaRPr lang="en-US" sz="10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9128" y="2011680"/>
            <a:ext cx="256032" cy="256032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6958584" y="1280160"/>
            <a:ext cx="19659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958584" y="1280160"/>
            <a:ext cx="1965960" cy="54864"/>
          </a:xfrm>
          <a:prstGeom prst="rect">
            <a:avLst/>
          </a:prstGeom>
          <a:solidFill>
            <a:srgbClr val="E85D75"/>
          </a:solidFill>
          <a:ln/>
        </p:spPr>
      </p:sp>
      <p:sp>
        <p:nvSpPr>
          <p:cNvPr id="27" name="Shape 22"/>
          <p:cNvSpPr/>
          <p:nvPr/>
        </p:nvSpPr>
        <p:spPr>
          <a:xfrm>
            <a:off x="7616952" y="1463040"/>
            <a:ext cx="594360" cy="594360"/>
          </a:xfrm>
          <a:prstGeom prst="ellipse">
            <a:avLst/>
          </a:prstGeom>
          <a:solidFill>
            <a:srgbClr val="E85D75"/>
          </a:solidFill>
          <a:ln/>
        </p:spPr>
      </p:sp>
      <p:sp>
        <p:nvSpPr>
          <p:cNvPr id="28" name="Text 23"/>
          <p:cNvSpPr/>
          <p:nvPr/>
        </p:nvSpPr>
        <p:spPr>
          <a:xfrm>
            <a:off x="7616952" y="1463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9" name="Text 24"/>
          <p:cNvSpPr/>
          <p:nvPr/>
        </p:nvSpPr>
        <p:spPr>
          <a:xfrm>
            <a:off x="7050024" y="21488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</a:t>
            </a:r>
            <a:endParaRPr lang="en-US" sz="1300" dirty="0"/>
          </a:p>
        </p:txBody>
      </p:sp>
      <p:sp>
        <p:nvSpPr>
          <p:cNvPr id="30" name="Text 25"/>
          <p:cNvSpPr/>
          <p:nvPr/>
        </p:nvSpPr>
        <p:spPr>
          <a:xfrm>
            <a:off x="7050024" y="24688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smart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457200" y="3383280"/>
            <a:ext cx="82296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457200" y="3383280"/>
            <a:ext cx="64008" cy="128016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520440"/>
            <a:ext cx="457200" cy="45720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1371600" y="352044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Garbage In = Garbage Out (GIGO)</a:t>
            </a:r>
            <a:endParaRPr lang="en-US" sz="1800" dirty="0"/>
          </a:p>
        </p:txBody>
      </p:sp>
      <p:sp>
        <p:nvSpPr>
          <p:cNvPr id="35" name="Text 29"/>
          <p:cNvSpPr/>
          <p:nvPr/>
        </p:nvSpPr>
        <p:spPr>
          <a:xfrm>
            <a:off x="1371600" y="393192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feed bad data to an AI model, you get bad results.
</a:t>
            </a:r>
            <a:pPr indent="0" marL="0">
              <a:buNone/>
            </a:pPr>
            <a:r>
              <a:rPr lang="en-US" sz="12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Train a spam filter on random emails → it won't know what spam looks like!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Types of Data AI Works With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56032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2560320" cy="54864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0" y="1417320"/>
            <a:ext cx="548640" cy="548640"/>
          </a:xfrm>
          <a:prstGeom prst="ellipse">
            <a:avLst/>
          </a:prstGeom>
          <a:solidFill>
            <a:srgbClr val="F0F2F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50876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011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2240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price, temperature,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scores, measurements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46120" y="1234440"/>
            <a:ext cx="256032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46120" y="1234440"/>
            <a:ext cx="2560320" cy="54864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12" name="Shape 9"/>
          <p:cNvSpPr/>
          <p:nvPr/>
        </p:nvSpPr>
        <p:spPr>
          <a:xfrm>
            <a:off x="4160520" y="1417320"/>
            <a:ext cx="548640" cy="548640"/>
          </a:xfrm>
          <a:prstGeom prst="ellipse">
            <a:avLst/>
          </a:prstGeom>
          <a:solidFill>
            <a:srgbClr val="F0F2F8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50876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29000" y="2011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429000" y="2240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Emails, reviews, tweets,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articles, chat messages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035040" y="1234440"/>
            <a:ext cx="256032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035040" y="1234440"/>
            <a:ext cx="256032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Shape 14"/>
          <p:cNvSpPr/>
          <p:nvPr/>
        </p:nvSpPr>
        <p:spPr>
          <a:xfrm>
            <a:off x="6949440" y="1417320"/>
            <a:ext cx="548640" cy="548640"/>
          </a:xfrm>
          <a:prstGeom prst="ellipse">
            <a:avLst/>
          </a:prstGeom>
          <a:solidFill>
            <a:srgbClr val="F0F2F8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50876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17920" y="2011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217920" y="2240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Photos, X-rays, satellite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images, diagrams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1554480" y="2880360"/>
            <a:ext cx="256032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1554480" y="2880360"/>
            <a:ext cx="2560320" cy="54864"/>
          </a:xfrm>
          <a:prstGeom prst="rect">
            <a:avLst/>
          </a:prstGeom>
          <a:solidFill>
            <a:srgbClr val="E85D75"/>
          </a:solidFill>
          <a:ln/>
        </p:spPr>
      </p:sp>
      <p:sp>
        <p:nvSpPr>
          <p:cNvPr id="24" name="Shape 19"/>
          <p:cNvSpPr/>
          <p:nvPr/>
        </p:nvSpPr>
        <p:spPr>
          <a:xfrm>
            <a:off x="2468880" y="3063240"/>
            <a:ext cx="548640" cy="548640"/>
          </a:xfrm>
          <a:prstGeom prst="ellipse">
            <a:avLst/>
          </a:prstGeom>
          <a:solidFill>
            <a:srgbClr val="F0F2F8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0" y="3154680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737360" y="3657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1737360" y="3886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recordings, music,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podcasts, sound effects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4389120" y="2880360"/>
            <a:ext cx="256032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389120" y="2880360"/>
            <a:ext cx="25603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Shape 24"/>
          <p:cNvSpPr/>
          <p:nvPr/>
        </p:nvSpPr>
        <p:spPr>
          <a:xfrm>
            <a:off x="5303520" y="3063240"/>
            <a:ext cx="548640" cy="548640"/>
          </a:xfrm>
          <a:prstGeom prst="ellipse">
            <a:avLst/>
          </a:prstGeom>
          <a:solidFill>
            <a:srgbClr val="F0F2F8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960" y="3154680"/>
            <a:ext cx="365760" cy="36576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4572000" y="3657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4572000" y="3886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prices, weather over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time, sensor readings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Does Data Come From?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78308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37160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8288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21031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records,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info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423160" y="1234440"/>
            <a:ext cx="178308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240" y="137160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514600" y="18288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2514600" y="21031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Weather, maps,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data feeds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4389120" y="1234440"/>
            <a:ext cx="178308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37160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480560" y="18288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Scraping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4480560" y="21031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Extracting data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websites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6355080" y="1234440"/>
            <a:ext cx="178308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0" y="137160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46520" y="18288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/ IoT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6446520" y="21031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devices,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wearables, cameras</a:t>
            </a:r>
            <a:endParaRPr lang="en-US" sz="900" dirty="0"/>
          </a:p>
        </p:txBody>
      </p:sp>
      <p:sp>
        <p:nvSpPr>
          <p:cNvPr id="20" name="Shape 14"/>
          <p:cNvSpPr/>
          <p:nvPr/>
        </p:nvSpPr>
        <p:spPr>
          <a:xfrm>
            <a:off x="457200" y="2788920"/>
            <a:ext cx="178308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2926080"/>
            <a:ext cx="411480" cy="4114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48640" y="33832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Surveys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548640" y="36576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Questionnaires &amp;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feedback</a:t>
            </a:r>
            <a:endParaRPr lang="en-US" sz="900" dirty="0"/>
          </a:p>
        </p:txBody>
      </p:sp>
      <p:sp>
        <p:nvSpPr>
          <p:cNvPr id="24" name="Shape 17"/>
          <p:cNvSpPr/>
          <p:nvPr/>
        </p:nvSpPr>
        <p:spPr>
          <a:xfrm>
            <a:off x="2423160" y="2788920"/>
            <a:ext cx="178308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63240" y="2926080"/>
            <a:ext cx="411480" cy="41148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2514600" y="33832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2514600" y="36576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Posts, comments,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likes, shares</a:t>
            </a:r>
            <a:endParaRPr lang="en-US" sz="900" dirty="0"/>
          </a:p>
        </p:txBody>
      </p:sp>
      <p:sp>
        <p:nvSpPr>
          <p:cNvPr id="28" name="Shape 20"/>
          <p:cNvSpPr/>
          <p:nvPr/>
        </p:nvSpPr>
        <p:spPr>
          <a:xfrm>
            <a:off x="4389120" y="2788920"/>
            <a:ext cx="178308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0" y="2926080"/>
            <a:ext cx="411480" cy="41148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4480560" y="33832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Datasets</a:t>
            </a:r>
            <a:endParaRPr lang="en-US" sz="1200" dirty="0"/>
          </a:p>
        </p:txBody>
      </p:sp>
      <p:sp>
        <p:nvSpPr>
          <p:cNvPr id="31" name="Text 22"/>
          <p:cNvSpPr/>
          <p:nvPr/>
        </p:nvSpPr>
        <p:spPr>
          <a:xfrm>
            <a:off x="4480560" y="36576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Kaggle, government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research</a:t>
            </a:r>
            <a:endParaRPr lang="en-US" sz="900" dirty="0"/>
          </a:p>
        </p:txBody>
      </p:sp>
      <p:sp>
        <p:nvSpPr>
          <p:cNvPr id="32" name="Shape 23"/>
          <p:cNvSpPr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33" name="Text 24"/>
          <p:cNvSpPr/>
          <p:nvPr/>
        </p:nvSpPr>
        <p:spPr>
          <a:xfrm>
            <a:off x="640080" y="42976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Start with free public datasets on Kaggle.com or data.gov to practice!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Quality Matters!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029200" cy="4846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64008" cy="484632"/>
          </a:xfrm>
          <a:prstGeom prst="rect">
            <a:avLst/>
          </a:prstGeom>
          <a:solidFill>
            <a:srgbClr val="E85D75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252728"/>
            <a:ext cx="347472" cy="347472"/>
          </a:xfrm>
          <a:prstGeom prst="ellipse">
            <a:avLst/>
          </a:prstGeom>
          <a:solidFill>
            <a:srgbClr val="E85D75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252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88720" y="12070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143560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cells, null fields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764792"/>
            <a:ext cx="5029200" cy="4846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764792"/>
            <a:ext cx="64008" cy="4846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685800" y="1828800"/>
            <a:ext cx="347472" cy="3474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1828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88720" y="17830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88720" y="201168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record appears twice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340864"/>
            <a:ext cx="5029200" cy="4846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340864"/>
            <a:ext cx="64008" cy="4846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" y="2404872"/>
            <a:ext cx="347472" cy="34747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24048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88720" y="23591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88720" y="258775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= 999, Price = -$50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916936"/>
            <a:ext cx="5029200" cy="4846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2916936"/>
            <a:ext cx="64008" cy="4846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4" name="Shape 22"/>
          <p:cNvSpPr/>
          <p:nvPr/>
        </p:nvSpPr>
        <p:spPr>
          <a:xfrm>
            <a:off x="685800" y="2980944"/>
            <a:ext cx="347472" cy="347472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29809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88720" y="293522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 Data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88720" y="316382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Typos, wrong formats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493008"/>
            <a:ext cx="5029200" cy="4846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3493008"/>
            <a:ext cx="64008" cy="48463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0" name="Shape 28"/>
          <p:cNvSpPr/>
          <p:nvPr/>
        </p:nvSpPr>
        <p:spPr>
          <a:xfrm>
            <a:off x="685800" y="3557016"/>
            <a:ext cx="347472" cy="347472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" y="35570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188720" y="351129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188720" y="373989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Unbalanced representation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760720" y="1188720"/>
            <a:ext cx="2926080" cy="2606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760720" y="1188720"/>
            <a:ext cx="2926080" cy="54864"/>
          </a:xfrm>
          <a:prstGeom prst="rect">
            <a:avLst/>
          </a:prstGeom>
          <a:solidFill>
            <a:srgbClr val="00D4AA"/>
          </a:solidFill>
          <a:ln/>
        </p:spPr>
      </p:sp>
      <p:pic>
        <p:nvPicPr>
          <p:cNvPr id="3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371600"/>
            <a:ext cx="457200" cy="457200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5943600" y="19202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Cooking Analogy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5943600" y="228600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Cooking with rotten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ingredients = bad meal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data = bad AI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check your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ingredients first!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457200" y="4069080"/>
            <a:ext cx="8229600" cy="731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0" name="Text 37"/>
          <p:cNvSpPr/>
          <p:nvPr/>
        </p:nvSpPr>
        <p:spPr>
          <a:xfrm>
            <a:off x="640080" y="40690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scientists spend up to 80% of their time cleaning data — it's that important!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Steps to Prepare Data?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196596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234440"/>
            <a:ext cx="1965960" cy="54864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6" name="Shape 4"/>
          <p:cNvSpPr/>
          <p:nvPr/>
        </p:nvSpPr>
        <p:spPr>
          <a:xfrm>
            <a:off x="978408" y="1417320"/>
            <a:ext cx="594360" cy="594360"/>
          </a:xfrm>
          <a:prstGeom prst="ellipse">
            <a:avLst/>
          </a:prstGeom>
          <a:solidFill>
            <a:srgbClr val="4A6CF7"/>
          </a:solidFill>
          <a:ln/>
        </p:spPr>
      </p:sp>
      <p:sp>
        <p:nvSpPr>
          <p:cNvPr id="7" name="Text 5"/>
          <p:cNvSpPr/>
          <p:nvPr/>
        </p:nvSpPr>
        <p:spPr>
          <a:xfrm>
            <a:off x="978408" y="1417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1480" y="21031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242316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raw data from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various sources</a:t>
            </a:r>
            <a:endParaRPr lang="en-US" sz="11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3432" y="1965960"/>
            <a:ext cx="256032" cy="25603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532888" y="1234440"/>
            <a:ext cx="196596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532888" y="1234440"/>
            <a:ext cx="1965960" cy="54864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13" name="Shape 10"/>
          <p:cNvSpPr/>
          <p:nvPr/>
        </p:nvSpPr>
        <p:spPr>
          <a:xfrm>
            <a:off x="3191256" y="1417320"/>
            <a:ext cx="594360" cy="594360"/>
          </a:xfrm>
          <a:prstGeom prst="ellipse">
            <a:avLst/>
          </a:prstGeom>
          <a:solidFill>
            <a:srgbClr val="00B894"/>
          </a:solidFill>
          <a:ln/>
        </p:spPr>
      </p:sp>
      <p:sp>
        <p:nvSpPr>
          <p:cNvPr id="14" name="Text 11"/>
          <p:cNvSpPr/>
          <p:nvPr/>
        </p:nvSpPr>
        <p:spPr>
          <a:xfrm>
            <a:off x="3191256" y="1417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2624328" y="21031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2624328" y="242316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errors, fill gaps,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duplicates</a:t>
            </a:r>
            <a:endParaRPr lang="en-US" sz="11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965960"/>
            <a:ext cx="256032" cy="256032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745736" y="1234440"/>
            <a:ext cx="196596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745736" y="1234440"/>
            <a:ext cx="196596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0" name="Shape 16"/>
          <p:cNvSpPr/>
          <p:nvPr/>
        </p:nvSpPr>
        <p:spPr>
          <a:xfrm>
            <a:off x="5404104" y="1417320"/>
            <a:ext cx="594360" cy="5943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1" name="Text 17"/>
          <p:cNvSpPr/>
          <p:nvPr/>
        </p:nvSpPr>
        <p:spPr>
          <a:xfrm>
            <a:off x="5404104" y="1417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18"/>
          <p:cNvSpPr/>
          <p:nvPr/>
        </p:nvSpPr>
        <p:spPr>
          <a:xfrm>
            <a:off x="4837176" y="21031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4837176" y="242316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Normalize, scale,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categories</a:t>
            </a:r>
            <a:endParaRPr lang="en-US" sz="11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9128" y="1965960"/>
            <a:ext cx="256032" cy="256032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6958584" y="1234440"/>
            <a:ext cx="196596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958584" y="1234440"/>
            <a:ext cx="1965960" cy="54864"/>
          </a:xfrm>
          <a:prstGeom prst="rect">
            <a:avLst/>
          </a:prstGeom>
          <a:solidFill>
            <a:srgbClr val="E85D75"/>
          </a:solidFill>
          <a:ln/>
        </p:spPr>
      </p:sp>
      <p:sp>
        <p:nvSpPr>
          <p:cNvPr id="27" name="Shape 22"/>
          <p:cNvSpPr/>
          <p:nvPr/>
        </p:nvSpPr>
        <p:spPr>
          <a:xfrm>
            <a:off x="7616952" y="1417320"/>
            <a:ext cx="594360" cy="594360"/>
          </a:xfrm>
          <a:prstGeom prst="ellipse">
            <a:avLst/>
          </a:prstGeom>
          <a:solidFill>
            <a:srgbClr val="E85D75"/>
          </a:solidFill>
          <a:ln/>
        </p:spPr>
      </p:sp>
      <p:sp>
        <p:nvSpPr>
          <p:cNvPr id="28" name="Text 23"/>
          <p:cNvSpPr/>
          <p:nvPr/>
        </p:nvSpPr>
        <p:spPr>
          <a:xfrm>
            <a:off x="7616952" y="1417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9" name="Text 24"/>
          <p:cNvSpPr/>
          <p:nvPr/>
        </p:nvSpPr>
        <p:spPr>
          <a:xfrm>
            <a:off x="7050024" y="21031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400" dirty="0"/>
          </a:p>
        </p:txBody>
      </p:sp>
      <p:sp>
        <p:nvSpPr>
          <p:cNvPr id="30" name="Text 25"/>
          <p:cNvSpPr/>
          <p:nvPr/>
        </p:nvSpPr>
        <p:spPr>
          <a:xfrm>
            <a:off x="7050024" y="242316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into training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testing sets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457200" y="3474720"/>
            <a:ext cx="82296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457200" y="3474720"/>
            <a:ext cx="64008" cy="1234440"/>
          </a:xfrm>
          <a:prstGeom prst="rect">
            <a:avLst/>
          </a:prstGeom>
          <a:solidFill>
            <a:srgbClr val="00D4AA"/>
          </a:solidFill>
          <a:ln/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611880"/>
            <a:ext cx="457200" cy="45720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1371600" y="3584448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80/20 Rule for Train/Test Split</a:t>
            </a:r>
            <a:endParaRPr lang="en-US" sz="1600" dirty="0"/>
          </a:p>
        </p:txBody>
      </p:sp>
      <p:sp>
        <p:nvSpPr>
          <p:cNvPr id="35" name="Shape 29"/>
          <p:cNvSpPr/>
          <p:nvPr/>
        </p:nvSpPr>
        <p:spPr>
          <a:xfrm>
            <a:off x="1371600" y="4069080"/>
            <a:ext cx="5120640" cy="320040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36" name="Text 30"/>
          <p:cNvSpPr/>
          <p:nvPr/>
        </p:nvSpPr>
        <p:spPr>
          <a:xfrm>
            <a:off x="1371600" y="40690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Training Data</a:t>
            </a:r>
            <a:endParaRPr lang="en-US" sz="1100" dirty="0"/>
          </a:p>
        </p:txBody>
      </p:sp>
      <p:sp>
        <p:nvSpPr>
          <p:cNvPr id="37" name="Shape 31"/>
          <p:cNvSpPr/>
          <p:nvPr/>
        </p:nvSpPr>
        <p:spPr>
          <a:xfrm>
            <a:off x="6492240" y="4069080"/>
            <a:ext cx="1280160" cy="3200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8" name="Text 32"/>
          <p:cNvSpPr/>
          <p:nvPr/>
        </p:nvSpPr>
        <p:spPr>
          <a:xfrm>
            <a:off x="6492240" y="40690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Test</a:t>
            </a:r>
            <a:endParaRPr lang="en-US" sz="1100" dirty="0"/>
          </a:p>
        </p:txBody>
      </p:sp>
      <p:sp>
        <p:nvSpPr>
          <p:cNvPr id="39" name="Text 33"/>
          <p:cNvSpPr/>
          <p:nvPr/>
        </p:nvSpPr>
        <p:spPr>
          <a:xfrm>
            <a:off x="1371600" y="443484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80% to teach the model, 20% to check if it actually learned!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Is Data Enough?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64008" cy="685800"/>
          </a:xfrm>
          <a:prstGeom prst="rect">
            <a:avLst/>
          </a:prstGeom>
          <a:solidFill>
            <a:srgbClr val="4A6CF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25880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23444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Data = Better AI (Usually)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280160" y="153619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datasets help models find more patterns and make better predictions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1993392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1993392"/>
            <a:ext cx="64008" cy="685800"/>
          </a:xfrm>
          <a:prstGeom prst="rect">
            <a:avLst/>
          </a:prstGeom>
          <a:solidFill>
            <a:srgbClr val="00B89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130552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80160" y="2039112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&gt; Quantity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280160" y="2340864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clean, accurate records beat 100,000 messy ones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57200" y="2798064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57200" y="2798064"/>
            <a:ext cx="64008" cy="685800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935224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80160" y="2843784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Diminishing Returns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280160" y="314553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 point, adding more data gives smaller improvements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57200" y="3602736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57200" y="3602736"/>
            <a:ext cx="64008" cy="68580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739896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80160" y="3648456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Data Matters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1280160" y="395020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99% of emails are not-spam, the AI won't learn to detect spam well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25" name="Text 19"/>
          <p:cNvSpPr/>
          <p:nvPr/>
        </p:nvSpPr>
        <p:spPr>
          <a:xfrm>
            <a:off x="640080" y="44805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Start with what you have, improve data quality, then collect more if needed.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25880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234440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the fuel that powers all AI — no data, no intelligence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1947672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39112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1947672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comes in many forms: numbers, text, images, audio, and time series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57200" y="2660904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52344"/>
            <a:ext cx="384048" cy="38404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88720" y="2660904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Garbage In = Garbage Out — data quality is critical for good AI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457200" y="3374136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465576"/>
            <a:ext cx="384048" cy="38404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88720" y="3374136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 (collect, clean, transform, split) takes most of the work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457200" y="4087368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178808"/>
            <a:ext cx="384048" cy="38404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188720" y="4087368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matters more than quantity — balanced, clean data wins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640080"/>
            <a:ext cx="1097280" cy="1097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Next?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3200400" y="2606040"/>
            <a:ext cx="274320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Module 5, we'll learn: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3246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— Predicting Numbers with AI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that you understand data, let's use it to make predictions!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4: Data — The Fuel of AI</dc:title>
  <dc:subject>PptxGenJS Presentation</dc:subject>
  <dc:creator>AI &amp; ML Course</dc:creator>
  <cp:lastModifiedBy>AI &amp; ML Course</cp:lastModifiedBy>
  <cp:revision>1</cp:revision>
  <dcterms:created xsi:type="dcterms:W3CDTF">2026-03-18T07:35:56Z</dcterms:created>
  <dcterms:modified xsi:type="dcterms:W3CDTF">2026-03-18T07:35:56Z</dcterms:modified>
</cp:coreProperties>
</file>