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1096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54864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6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Machine Learning?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Computers to Learn From Experience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4206240"/>
            <a:ext cx="2743200" cy="36576"/>
          </a:xfrm>
          <a:prstGeom prst="rect">
            <a:avLst/>
          </a:prstGeom>
          <a:solidFill>
            <a:srgbClr val="00D4A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Machine Learning?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64008" cy="1005840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716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23444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= A subset of AI where computers learn from DATA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34440" y="1737360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being explicitly programmed with every rule, the computer figures out patterns on its own!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46888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468880"/>
            <a:ext cx="64008" cy="1280160"/>
          </a:xfrm>
          <a:prstGeom prst="rect">
            <a:avLst/>
          </a:prstGeom>
          <a:solidFill>
            <a:srgbClr val="00D4A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6060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256032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Analogy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234440" y="29718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way: </a:t>
            </a: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someone a recipe book with every single rule for cooking.
</a:t>
            </a:r>
            <a:r>
              <a:rPr lang="en-US" sz="1300" b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way: </a:t>
            </a:r>
            <a:r>
              <a:rPr lang="en-US" sz="1300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them 1,000 recipes and let them figure out the patterns!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57200" y="4023360"/>
            <a:ext cx="8229600" cy="73152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is how computers go from "do what I say" to "learn from what you see"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Does Machine Learning Work?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8862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3886200" cy="54864"/>
          </a:xfrm>
          <a:prstGeom prst="rect">
            <a:avLst/>
          </a:prstGeom>
          <a:solidFill>
            <a:srgbClr val="8892B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Programming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1188720" cy="50292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65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196596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240280" y="1965960"/>
            <a:ext cx="1188720" cy="502920"/>
          </a:xfrm>
          <a:prstGeom prst="rect">
            <a:avLst/>
          </a:prstGeom>
          <a:solidFill>
            <a:srgbClr val="8892B0"/>
          </a:solidFill>
          <a:ln/>
        </p:spPr>
      </p:sp>
      <p:sp>
        <p:nvSpPr>
          <p:cNvPr id="11" name="Text 9"/>
          <p:cNvSpPr/>
          <p:nvPr/>
        </p:nvSpPr>
        <p:spPr>
          <a:xfrm>
            <a:off x="2240280" y="19659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(Program)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29000" y="196596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749040" y="1965960"/>
            <a:ext cx="457200" cy="5029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19659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6517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ALL the rules by hand.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just follows instructions.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0" y="2057400"/>
            <a:ext cx="914400" cy="914400"/>
          </a:xfrm>
          <a:prstGeom prst="ellipse">
            <a:avLst/>
          </a:prstGeom>
          <a:solidFill>
            <a:srgbClr val="1A1F36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0" y="2057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83480" y="1280160"/>
            <a:ext cx="38862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83480" y="1280160"/>
            <a:ext cx="38862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0" name="Text 18"/>
          <p:cNvSpPr/>
          <p:nvPr/>
        </p:nvSpPr>
        <p:spPr>
          <a:xfrm>
            <a:off x="5166360" y="14630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57800" y="2011680"/>
            <a:ext cx="1188720" cy="50292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22" name="Text 20"/>
          <p:cNvSpPr/>
          <p:nvPr/>
        </p:nvSpPr>
        <p:spPr>
          <a:xfrm>
            <a:off x="5257800" y="2011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46520" y="201168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766560" y="2011680"/>
            <a:ext cx="1188720" cy="5029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2011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(Answers)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955280" y="2011680"/>
            <a:ext cx="320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275320" y="2011680"/>
            <a:ext cx="45720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8275320" y="20116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57800" y="2697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figures out the RULES itself!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just provide data and answers.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886200"/>
            <a:ext cx="8229600" cy="86868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8862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Difference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Traditional: Human writes rules  |  ML: Computer DISCOVERS rules from data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Should You Use Machine Learning?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64008" cy="128016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Too Complex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problems have thousands of rules that are impossible to write manually.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4A6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Recognizing a cat in a photo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23444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234440"/>
            <a:ext cx="64008" cy="128016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Change Over Time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006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of the game keep shifting, so static programs become outdated fast.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Spam email detection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743200"/>
            <a:ext cx="64008" cy="1280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Lots of Data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thrives when there are many examples to learn from.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Millions of past transactions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74320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2743200"/>
            <a:ext cx="64008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Personalization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0060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is different and needs a unique experience.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Netflix recommendations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 describe the rules easily, you don't need ML. If you can't — ML is the answer!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is Machine Learning Used?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371600"/>
            <a:ext cx="594360" cy="59436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4630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Spam Filters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to spot junk mail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12344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60520" y="1371600"/>
            <a:ext cx="594360" cy="59436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4630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8328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Siri, Alexa, Google understand speech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35040" y="123444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49440" y="1371600"/>
            <a:ext cx="594360" cy="59436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46304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220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Diagnosis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172200" y="2240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diseases from scans &amp; data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278892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371600" y="2926080"/>
            <a:ext cx="594360" cy="59436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3040" y="301752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9436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9436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catch suspicious transactions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46120" y="278892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160520" y="2926080"/>
            <a:ext cx="594360" cy="59436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1960" y="301752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38328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Cars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38328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to navigate roads safely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035040" y="278892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949440" y="2926080"/>
            <a:ext cx="594360" cy="594360"/>
          </a:xfrm>
          <a:prstGeom prst="ellipse">
            <a:avLst/>
          </a:prstGeom>
          <a:solidFill>
            <a:srgbClr val="F0F2F8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0880" y="3017520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17220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17220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Netflix, Spotify, YouTube pick for you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4389120"/>
            <a:ext cx="320040" cy="32004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097280" y="429768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Language Translation (Google Translate), Search Engines, and thousands more!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Types of Machine Learning Exist?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2560320" cy="54864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71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WITH answers.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provide data AND the correct labels.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2194560" cy="1097280"/>
          </a:xfrm>
          <a:prstGeom prst="rect">
            <a:avLst/>
          </a:prstGeom>
          <a:solidFill>
            <a:srgbClr val="4A6CF7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01752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35204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31520" y="3657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grading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46120" y="123444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234440"/>
            <a:ext cx="256032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4" name="Text 11"/>
          <p:cNvSpPr/>
          <p:nvPr/>
        </p:nvSpPr>
        <p:spPr>
          <a:xfrm>
            <a:off x="3383280" y="1371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3383280" y="2011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HIDDEN patterns.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groups data on its own.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429000" y="2926080"/>
            <a:ext cx="2194560" cy="1097280"/>
          </a:xfrm>
          <a:prstGeom prst="rect">
            <a:avLst/>
          </a:prstGeom>
          <a:solidFill>
            <a:srgbClr val="00B894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3017520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20440" y="35204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3520440" y="3657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laundry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color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035040" y="1234440"/>
            <a:ext cx="25603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35040" y="1234440"/>
            <a:ext cx="25603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18"/>
          <p:cNvSpPr/>
          <p:nvPr/>
        </p:nvSpPr>
        <p:spPr>
          <a:xfrm>
            <a:off x="6172200" y="13716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172200" y="20116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by TRIAL &amp; ERROR.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for good actions, penalties for bad.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217920" y="2926080"/>
            <a:ext cx="2194560" cy="109728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3017520"/>
            <a:ext cx="502920" cy="5029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309360" y="35204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309360" y="3657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to ride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bike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ML Process (Simple Steps)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12344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80160"/>
            <a:ext cx="1234440" cy="54864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463040"/>
            <a:ext cx="594360" cy="594360"/>
          </a:xfrm>
          <a:prstGeom prst="ellipse">
            <a:avLst/>
          </a:prstGeom>
          <a:solidFill>
            <a:srgbClr val="4A6CF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912" y="1965960"/>
            <a:ext cx="201168" cy="2011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764792" y="1280160"/>
            <a:ext cx="12344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764792" y="1280160"/>
            <a:ext cx="1234440" cy="54864"/>
          </a:xfrm>
          <a:prstGeom prst="rect">
            <a:avLst/>
          </a:prstGeom>
          <a:solidFill>
            <a:srgbClr val="5B7FFF"/>
          </a:solidFill>
          <a:ln/>
        </p:spPr>
      </p:sp>
      <p:sp>
        <p:nvSpPr>
          <p:cNvPr id="12" name="Shape 9"/>
          <p:cNvSpPr/>
          <p:nvPr/>
        </p:nvSpPr>
        <p:spPr>
          <a:xfrm>
            <a:off x="2084832" y="1463040"/>
            <a:ext cx="594360" cy="594360"/>
          </a:xfrm>
          <a:prstGeom prst="ellipse">
            <a:avLst/>
          </a:prstGeom>
          <a:solidFill>
            <a:srgbClr val="5B7FFF"/>
          </a:solidFill>
          <a:ln/>
        </p:spPr>
      </p:sp>
      <p:sp>
        <p:nvSpPr>
          <p:cNvPr id="13" name="Text 10"/>
          <p:cNvSpPr/>
          <p:nvPr/>
        </p:nvSpPr>
        <p:spPr>
          <a:xfrm>
            <a:off x="2084832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810512" y="219456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11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6664" y="1965960"/>
            <a:ext cx="201168" cy="20116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3209544" y="1280160"/>
            <a:ext cx="12344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09544" y="1280160"/>
            <a:ext cx="1234440" cy="54864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8" name="Shape 14"/>
          <p:cNvSpPr/>
          <p:nvPr/>
        </p:nvSpPr>
        <p:spPr>
          <a:xfrm>
            <a:off x="3529584" y="1463040"/>
            <a:ext cx="594360" cy="59436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9" name="Text 15"/>
          <p:cNvSpPr/>
          <p:nvPr/>
        </p:nvSpPr>
        <p:spPr>
          <a:xfrm>
            <a:off x="3529584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3255264" y="219456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416" y="1965960"/>
            <a:ext cx="201168" cy="20116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4654296" y="1280160"/>
            <a:ext cx="12344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654296" y="1280160"/>
            <a:ext cx="123444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Shape 19"/>
          <p:cNvSpPr/>
          <p:nvPr/>
        </p:nvSpPr>
        <p:spPr>
          <a:xfrm>
            <a:off x="4974336" y="146304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0"/>
          <p:cNvSpPr/>
          <p:nvPr/>
        </p:nvSpPr>
        <p:spPr>
          <a:xfrm>
            <a:off x="4974336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1"/>
          <p:cNvSpPr/>
          <p:nvPr/>
        </p:nvSpPr>
        <p:spPr>
          <a:xfrm>
            <a:off x="4700016" y="219456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1965960"/>
            <a:ext cx="201168" cy="201168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099048" y="1280160"/>
            <a:ext cx="12344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6099048" y="1280160"/>
            <a:ext cx="12344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Shape 24"/>
          <p:cNvSpPr/>
          <p:nvPr/>
        </p:nvSpPr>
        <p:spPr>
          <a:xfrm>
            <a:off x="6419088" y="146304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5"/>
          <p:cNvSpPr/>
          <p:nvPr/>
        </p:nvSpPr>
        <p:spPr>
          <a:xfrm>
            <a:off x="6419088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26"/>
          <p:cNvSpPr/>
          <p:nvPr/>
        </p:nvSpPr>
        <p:spPr>
          <a:xfrm>
            <a:off x="6144768" y="219456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1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965960"/>
            <a:ext cx="201168" cy="201168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7543800" y="1280160"/>
            <a:ext cx="123444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543800" y="1280160"/>
            <a:ext cx="1234440" cy="54864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36" name="Shape 29"/>
          <p:cNvSpPr/>
          <p:nvPr/>
        </p:nvSpPr>
        <p:spPr>
          <a:xfrm>
            <a:off x="7863840" y="1463040"/>
            <a:ext cx="594360" cy="594360"/>
          </a:xfrm>
          <a:prstGeom prst="ellipse">
            <a:avLst/>
          </a:prstGeom>
          <a:solidFill>
            <a:srgbClr val="E85D75"/>
          </a:solidFill>
          <a:ln/>
        </p:spPr>
      </p:sp>
      <p:sp>
        <p:nvSpPr>
          <p:cNvPr id="37" name="Text 30"/>
          <p:cNvSpPr/>
          <p:nvPr/>
        </p:nvSpPr>
        <p:spPr>
          <a:xfrm>
            <a:off x="786384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38" name="Text 31"/>
          <p:cNvSpPr/>
          <p:nvPr/>
        </p:nvSpPr>
        <p:spPr>
          <a:xfrm>
            <a:off x="7589520" y="219456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It!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320040" y="32461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examples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(images, numbers,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etc.)</a:t>
            </a:r>
            <a:endParaRPr lang="en-US" sz="800" dirty="0"/>
          </a:p>
        </p:txBody>
      </p:sp>
      <p:sp>
        <p:nvSpPr>
          <p:cNvPr id="40" name="Text 33"/>
          <p:cNvSpPr/>
          <p:nvPr/>
        </p:nvSpPr>
        <p:spPr>
          <a:xfrm>
            <a:off x="1764792" y="32461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errors,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gaps, organize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800" dirty="0"/>
          </a:p>
        </p:txBody>
      </p:sp>
      <p:sp>
        <p:nvSpPr>
          <p:cNvPr id="41" name="Text 34"/>
          <p:cNvSpPr/>
          <p:nvPr/>
        </p:nvSpPr>
        <p:spPr>
          <a:xfrm>
            <a:off x="3209544" y="32461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 algorithm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fits your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00" dirty="0"/>
          </a:p>
        </p:txBody>
      </p:sp>
      <p:sp>
        <p:nvSpPr>
          <p:cNvPr id="42" name="Text 35"/>
          <p:cNvSpPr/>
          <p:nvPr/>
        </p:nvSpPr>
        <p:spPr>
          <a:xfrm>
            <a:off x="4654296" y="32461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data to the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so it can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patterns</a:t>
            </a:r>
            <a:endParaRPr lang="en-US" sz="800" dirty="0"/>
          </a:p>
        </p:txBody>
      </p:sp>
      <p:sp>
        <p:nvSpPr>
          <p:cNvPr id="43" name="Text 36"/>
          <p:cNvSpPr/>
          <p:nvPr/>
        </p:nvSpPr>
        <p:spPr>
          <a:xfrm>
            <a:off x="6099048" y="32461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the model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</a:t>
            </a:r>
            <a:endParaRPr lang="en-US" sz="800" dirty="0"/>
          </a:p>
        </p:txBody>
      </p:sp>
      <p:sp>
        <p:nvSpPr>
          <p:cNvPr id="44" name="Text 37"/>
          <p:cNvSpPr/>
          <p:nvPr/>
        </p:nvSpPr>
        <p:spPr>
          <a:xfrm>
            <a:off x="7543800" y="32461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the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 and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improving</a:t>
            </a:r>
            <a:endParaRPr lang="en-US" sz="800" dirty="0"/>
          </a:p>
        </p:txBody>
      </p:sp>
      <p:sp>
        <p:nvSpPr>
          <p:cNvPr id="45" name="Shape 38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46" name="Text 39"/>
          <p:cNvSpPr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process is iterative — you go back and improve at each step!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Vocabulary Made Simple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566928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298448"/>
            <a:ext cx="1188720" cy="347472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984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11680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input characteristic the model uses to learn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11680" y="14813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Height, weight, color of a fruit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47088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47088"/>
            <a:ext cx="64008" cy="566928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1956816"/>
            <a:ext cx="1188720" cy="347472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19568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11680" y="186537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or category you want to predict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11680" y="213969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"Apple" or "Orange" — the correct answer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505456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505456"/>
            <a:ext cx="64008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2615184"/>
            <a:ext cx="1188720" cy="3474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61518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11680" y="25237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teaching phase where the model studies data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011680" y="27980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studying for an exam with practice tests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163824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163824"/>
            <a:ext cx="64008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" y="3273552"/>
            <a:ext cx="118872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2735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011680" y="31821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learned pattern — the "brain" of your ML system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011680" y="34564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recipe the computer wrote after studying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822192"/>
            <a:ext cx="82296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822192"/>
            <a:ext cx="64008" cy="566928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30" name="Shape 28"/>
          <p:cNvSpPr/>
          <p:nvPr/>
        </p:nvSpPr>
        <p:spPr>
          <a:xfrm>
            <a:off x="685800" y="3931920"/>
            <a:ext cx="1188720" cy="347472"/>
          </a:xfrm>
          <a:prstGeom prst="rect">
            <a:avLst/>
          </a:prstGeom>
          <a:solidFill>
            <a:srgbClr val="E85D75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" y="3931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011680" y="3840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answer when given new, unseen data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011680" y="4114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think this fruit is an apple!"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23444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is a subset of AI — computers learn patterns from DATA, not from rules you write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947672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39112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1947672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programming: you write rules | ML: the computer discovers rules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660904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52344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2660904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types: Supervised (with labels), Unsupervised (find patterns), Reinforcement (trial &amp; error)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374136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65576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3374136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ML when rules are too complex, data changes, or you need personalization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4087368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78808"/>
            <a:ext cx="384048" cy="38404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88720" y="4087368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follows a process: Collect → Clean → Choose → Train → Test → Deploy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64008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Next?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3200400" y="2606040"/>
            <a:ext cx="27432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Module 3, we'll learn: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Machine Learning — Deep Dive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Supervised, Unsupervised, and Reinforcement Learning in detail with real examples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hands-on exercises that come with this module!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761</Words>
  <Application>Microsoft Office PowerPoint</Application>
  <PresentationFormat>On-screen Show (16:9)</PresentationFormat>
  <Paragraphs>157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2: What is Machine Learning?</dc:title>
  <dc:subject>PptxGenJS Presentation</dc:subject>
  <dc:creator>AI &amp; ML Course</dc:creator>
  <cp:lastModifiedBy>Dev Grace</cp:lastModifiedBy>
  <cp:revision>2</cp:revision>
  <dcterms:created xsi:type="dcterms:W3CDTF">2026-03-18T07:36:41Z</dcterms:created>
  <dcterms:modified xsi:type="dcterms:W3CDTF">2026-03-18T08:36:29Z</dcterms:modified>
</cp:coreProperties>
</file>